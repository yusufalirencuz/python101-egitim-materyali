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Courier New Bold" panose="020B0604020202020204" charset="0"/>
      <p:regular r:id="rId28"/>
    </p:embeddedFont>
    <p:embeddedFont>
      <p:font typeface="Hagrid Text" panose="020B0604020202020204" charset="0"/>
      <p:regular r:id="rId29"/>
    </p:embeddedFont>
    <p:embeddedFont>
      <p:font typeface="Hagrid Text Bold" panose="020B0604020202020204" charset="0"/>
      <p:regular r:id="rId30"/>
    </p:embeddedFont>
    <p:embeddedFont>
      <p:font typeface="Hagrid Text Light" panose="020B0604020202020204" charset="0"/>
      <p:regular r:id="rId31"/>
    </p:embeddedFont>
    <p:embeddedFont>
      <p:font typeface="Prompt" panose="00000500000000000000" pitchFamily="2" charset="-34"/>
      <p:regular r:id="rId32"/>
    </p:embeddedFont>
    <p:embeddedFont>
      <p:font typeface="Prompt Bold" panose="020B0604020202020204" charset="-3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hyperlink" Target="http://www.linkedin.com/in/yusuf-ali-rencuzogullari" TargetMode="External"/><Relationship Id="rId4" Type="http://schemas.openxmlformats.org/officeDocument/2006/relationships/image" Target="../media/image4.sv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42" r="-334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480292" y="5219090"/>
            <a:ext cx="11327416" cy="9638595"/>
            <a:chOff x="0" y="0"/>
            <a:chExt cx="15103221" cy="12851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Freeform 6"/>
          <p:cNvSpPr/>
          <p:nvPr/>
        </p:nvSpPr>
        <p:spPr>
          <a:xfrm>
            <a:off x="2544004" y="1943233"/>
            <a:ext cx="13199993" cy="6334725"/>
          </a:xfrm>
          <a:custGeom>
            <a:avLst/>
            <a:gdLst/>
            <a:ahLst/>
            <a:cxnLst/>
            <a:rect l="l" t="t" r="r" b="b"/>
            <a:pathLst>
              <a:path w="13199993" h="6334725">
                <a:moveTo>
                  <a:pt x="0" y="0"/>
                </a:moveTo>
                <a:lnTo>
                  <a:pt x="13199992" y="0"/>
                </a:lnTo>
                <a:lnTo>
                  <a:pt x="13199992" y="6334725"/>
                </a:lnTo>
                <a:lnTo>
                  <a:pt x="0" y="633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2352275" y="2000298"/>
            <a:ext cx="13583460" cy="395849"/>
          </a:xfrm>
          <a:custGeom>
            <a:avLst/>
            <a:gdLst/>
            <a:ahLst/>
            <a:cxnLst/>
            <a:rect l="l" t="t" r="r" b="b"/>
            <a:pathLst>
              <a:path w="13583460" h="395849">
                <a:moveTo>
                  <a:pt x="0" y="0"/>
                </a:moveTo>
                <a:lnTo>
                  <a:pt x="13583460" y="0"/>
                </a:lnTo>
                <a:lnTo>
                  <a:pt x="13583460" y="395849"/>
                </a:lnTo>
                <a:lnTo>
                  <a:pt x="0" y="395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2352275" y="2000298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7" y="0"/>
                </a:lnTo>
                <a:lnTo>
                  <a:pt x="408727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15743996" y="2000298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2352275" y="7890843"/>
            <a:ext cx="13583460" cy="395849"/>
          </a:xfrm>
          <a:custGeom>
            <a:avLst/>
            <a:gdLst/>
            <a:ahLst/>
            <a:cxnLst/>
            <a:rect l="l" t="t" r="r" b="b"/>
            <a:pathLst>
              <a:path w="13583460" h="395849">
                <a:moveTo>
                  <a:pt x="0" y="0"/>
                </a:moveTo>
                <a:lnTo>
                  <a:pt x="13583460" y="0"/>
                </a:lnTo>
                <a:lnTo>
                  <a:pt x="13583460" y="395850"/>
                </a:lnTo>
                <a:lnTo>
                  <a:pt x="0" y="395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15527007" y="6427194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2135276" y="6427194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3" name="Group 13"/>
          <p:cNvGrpSpPr/>
          <p:nvPr/>
        </p:nvGrpSpPr>
        <p:grpSpPr>
          <a:xfrm>
            <a:off x="14367005" y="9602553"/>
            <a:ext cx="516484" cy="517246"/>
            <a:chOff x="0" y="0"/>
            <a:chExt cx="688645" cy="6896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8594" cy="689610"/>
            </a:xfrm>
            <a:custGeom>
              <a:avLst/>
              <a:gdLst/>
              <a:ahLst/>
              <a:cxnLst/>
              <a:rect l="l" t="t" r="r" b="b"/>
              <a:pathLst>
                <a:path w="688594" h="689610">
                  <a:moveTo>
                    <a:pt x="0" y="0"/>
                  </a:moveTo>
                  <a:lnTo>
                    <a:pt x="688594" y="0"/>
                  </a:lnTo>
                  <a:lnTo>
                    <a:pt x="688594" y="689610"/>
                  </a:lnTo>
                  <a:lnTo>
                    <a:pt x="0" y="689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3" r="-81" b="-7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629094" y="7186232"/>
            <a:ext cx="7029821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94E5F9"/>
                </a:solidFill>
                <a:latin typeface="Hagrid Text Light"/>
                <a:ea typeface="Hagrid Text Light"/>
                <a:cs typeface="Hagrid Text Light"/>
                <a:sym typeface="Hagrid Text Light"/>
              </a:rPr>
              <a:t>Hazırlayan: Yusuf Ali Rencüzoğulları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9151" y="2648226"/>
            <a:ext cx="15109698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1091" y="5014236"/>
            <a:ext cx="1349290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101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10341" y="9563052"/>
            <a:ext cx="7029821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94E5F9"/>
                </a:solidFill>
                <a:latin typeface="Hagrid Text Light"/>
                <a:ea typeface="Hagrid Text Light"/>
                <a:cs typeface="Hagrid Text Light"/>
                <a:sym typeface="Hagrid Text Light"/>
              </a:rPr>
              <a:t>Estü Yazılım Kulübü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E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42086" y="-6389113"/>
            <a:ext cx="19502638" cy="19905212"/>
          </a:xfrm>
          <a:custGeom>
            <a:avLst/>
            <a:gdLst/>
            <a:ahLst/>
            <a:cxnLst/>
            <a:rect l="l" t="t" r="r" b="b"/>
            <a:pathLst>
              <a:path w="19502638" h="19905212">
                <a:moveTo>
                  <a:pt x="0" y="0"/>
                </a:moveTo>
                <a:lnTo>
                  <a:pt x="19502638" y="0"/>
                </a:lnTo>
                <a:lnTo>
                  <a:pt x="19502638" y="19905212"/>
                </a:lnTo>
                <a:lnTo>
                  <a:pt x="0" y="19905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Freeform 5"/>
          <p:cNvSpPr/>
          <p:nvPr/>
        </p:nvSpPr>
        <p:spPr>
          <a:xfrm>
            <a:off x="5642086" y="485813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6146444" y="1672476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6650793" y="2859148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7298503" y="4045810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7985246" y="5232483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8489594" y="6419145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9144000" y="7605817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9648358" y="8792480"/>
            <a:ext cx="1008707" cy="1008707"/>
          </a:xfrm>
          <a:custGeom>
            <a:avLst/>
            <a:gdLst/>
            <a:ahLst/>
            <a:cxnLst/>
            <a:rect l="l" t="t" r="r" b="b"/>
            <a:pathLst>
              <a:path w="1008707" h="1008707">
                <a:moveTo>
                  <a:pt x="0" y="0"/>
                </a:moveTo>
                <a:lnTo>
                  <a:pt x="1008707" y="0"/>
                </a:lnTo>
                <a:lnTo>
                  <a:pt x="1008707" y="1008707"/>
                </a:lnTo>
                <a:lnTo>
                  <a:pt x="0" y="100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Freeform 13"/>
          <p:cNvSpPr/>
          <p:nvPr/>
        </p:nvSpPr>
        <p:spPr>
          <a:xfrm>
            <a:off x="942813" y="8837371"/>
            <a:ext cx="6860048" cy="420929"/>
          </a:xfrm>
          <a:custGeom>
            <a:avLst/>
            <a:gdLst/>
            <a:ahLst/>
            <a:cxnLst/>
            <a:rect l="l" t="t" r="r" b="b"/>
            <a:pathLst>
              <a:path w="6860048" h="420929">
                <a:moveTo>
                  <a:pt x="0" y="0"/>
                </a:moveTo>
                <a:lnTo>
                  <a:pt x="6860048" y="0"/>
                </a:lnTo>
                <a:lnTo>
                  <a:pt x="6860048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TextBox 14"/>
          <p:cNvSpPr txBox="1"/>
          <p:nvPr/>
        </p:nvSpPr>
        <p:spPr>
          <a:xfrm>
            <a:off x="1028700" y="7761865"/>
            <a:ext cx="7029821" cy="10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050F26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İçindekiler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8503" y="641871"/>
            <a:ext cx="1078318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Neden Python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64173" y="1828533"/>
            <a:ext cx="953205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9844" y="3015205"/>
            <a:ext cx="954750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Koleksiyonlar ve Döngüler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95505" y="4201868"/>
            <a:ext cx="908617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Fonksiyonlar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61176" y="5388540"/>
            <a:ext cx="702982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OOP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26847" y="6575203"/>
            <a:ext cx="781755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Yazılım Prensipleri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92517" y="7761865"/>
            <a:ext cx="702982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Modüller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58179" y="8948537"/>
            <a:ext cx="702982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Son Proje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82203" y="-421243"/>
            <a:ext cx="5005797" cy="10912488"/>
          </a:xfrm>
          <a:custGeom>
            <a:avLst/>
            <a:gdLst/>
            <a:ahLst/>
            <a:cxnLst/>
            <a:rect l="l" t="t" r="r" b="b"/>
            <a:pathLst>
              <a:path w="5005797" h="10912488">
                <a:moveTo>
                  <a:pt x="0" y="0"/>
                </a:moveTo>
                <a:lnTo>
                  <a:pt x="5005797" y="0"/>
                </a:lnTo>
                <a:lnTo>
                  <a:pt x="5005797" y="10912488"/>
                </a:lnTo>
                <a:lnTo>
                  <a:pt x="0" y="10912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3181990" y="-4029580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Freeform 5"/>
          <p:cNvSpPr/>
          <p:nvPr/>
        </p:nvSpPr>
        <p:spPr>
          <a:xfrm>
            <a:off x="12867151" y="1960112"/>
            <a:ext cx="4242540" cy="6948449"/>
          </a:xfrm>
          <a:custGeom>
            <a:avLst/>
            <a:gdLst/>
            <a:ahLst/>
            <a:cxnLst/>
            <a:rect l="l" t="t" r="r" b="b"/>
            <a:pathLst>
              <a:path w="4242540" h="6948449">
                <a:moveTo>
                  <a:pt x="0" y="0"/>
                </a:moveTo>
                <a:lnTo>
                  <a:pt x="4242540" y="0"/>
                </a:lnTo>
                <a:lnTo>
                  <a:pt x="4242540" y="6948449"/>
                </a:lnTo>
                <a:lnTo>
                  <a:pt x="0" y="6948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220133" y="1831238"/>
            <a:ext cx="6860048" cy="420929"/>
          </a:xfrm>
          <a:custGeom>
            <a:avLst/>
            <a:gdLst/>
            <a:ahLst/>
            <a:cxnLst/>
            <a:rect l="l" t="t" r="r" b="b"/>
            <a:pathLst>
              <a:path w="6860048" h="420929">
                <a:moveTo>
                  <a:pt x="0" y="0"/>
                </a:moveTo>
                <a:lnTo>
                  <a:pt x="6860048" y="0"/>
                </a:lnTo>
                <a:lnTo>
                  <a:pt x="6860048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7" name="Group 7"/>
          <p:cNvGrpSpPr/>
          <p:nvPr/>
        </p:nvGrpSpPr>
        <p:grpSpPr>
          <a:xfrm>
            <a:off x="13379853" y="2639558"/>
            <a:ext cx="4632436" cy="4139879"/>
            <a:chOff x="0" y="0"/>
            <a:chExt cx="6176582" cy="55198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76645" cy="5519801"/>
            </a:xfrm>
            <a:custGeom>
              <a:avLst/>
              <a:gdLst/>
              <a:ahLst/>
              <a:cxnLst/>
              <a:rect l="l" t="t" r="r" b="b"/>
              <a:pathLst>
                <a:path w="6176645" h="5519801">
                  <a:moveTo>
                    <a:pt x="0" y="0"/>
                  </a:moveTo>
                  <a:lnTo>
                    <a:pt x="6176645" y="0"/>
                  </a:lnTo>
                  <a:lnTo>
                    <a:pt x="6176645" y="5519801"/>
                  </a:lnTo>
                  <a:lnTo>
                    <a:pt x="0" y="551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660" r="-64659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6813" y="1009650"/>
            <a:ext cx="6641306" cy="100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Neden Python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8435" y="3324977"/>
            <a:ext cx="313982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Faaliyet alanı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0133" y="4159615"/>
            <a:ext cx="3763699" cy="295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Veri Mühendisliği &amp; Analizi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Web Geliştirme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AI &amp; NLP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Otomasyon ve Scripting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7555" y="3324977"/>
            <a:ext cx="635213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Popüler olma sebepleri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51858" y="4159615"/>
            <a:ext cx="6057833" cy="301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Sade ve Okunabilir Syntax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Interpreted Language Olması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Kütüphane Zenginliği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Geniş Topluluk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Dinamik Tip Belirleme</a:t>
            </a:r>
          </a:p>
          <a:p>
            <a:pPr marL="639461" lvl="2" indent="-213154" algn="l">
              <a:lnSpc>
                <a:spcPts val="3915"/>
              </a:lnSpc>
              <a:buFont typeface="Arial"/>
              <a:buChar char="⚬"/>
            </a:pPr>
            <a:r>
              <a:rPr lang="en-US" sz="2796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Cross Platform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71766" y="2639558"/>
            <a:ext cx="4632436" cy="4139879"/>
            <a:chOff x="0" y="0"/>
            <a:chExt cx="6176582" cy="55198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76645" cy="5519801"/>
            </a:xfrm>
            <a:custGeom>
              <a:avLst/>
              <a:gdLst/>
              <a:ahLst/>
              <a:cxnLst/>
              <a:rect l="l" t="t" r="r" b="b"/>
              <a:pathLst>
                <a:path w="6176645" h="5519801">
                  <a:moveTo>
                    <a:pt x="0" y="0"/>
                  </a:moveTo>
                  <a:lnTo>
                    <a:pt x="6176645" y="0"/>
                  </a:lnTo>
                  <a:lnTo>
                    <a:pt x="6176645" y="5519801"/>
                  </a:lnTo>
                  <a:lnTo>
                    <a:pt x="0" y="551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018" r="-16018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Neden Python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07135"/>
            <a:ext cx="5563905" cy="202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“Python is a programming language that lets you work quickly and integrate systems more effectively”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0277" y="5435975"/>
            <a:ext cx="5563905" cy="202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“Python, hızlıca çalışmanızı ve sistemleri etkili bir şekilde entegre etmenizi sağlayan bir programlama dilidir.”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2650" y="7555601"/>
            <a:ext cx="2133219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bkz. Python.org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4487" y="2557463"/>
            <a:ext cx="2172119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3200" b="1" u="sng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Hız: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4914" y="2584685"/>
            <a:ext cx="6459769" cy="293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640" lvl="2" indent="-182880" algn="l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Temiz syntaxı sayesinde diğer dillerde satırlarca süren kodu 3-4 satırda halletmek mümkün.</a:t>
            </a:r>
          </a:p>
          <a:p>
            <a:pPr marL="548640" lvl="2" indent="-182880" algn="l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Interpreted language olduğu için derleme süresiyle vakit kaybetmeye gerek kalmıyor. Testler çok hızlı şekilde yapılabiliyor.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25851" y="5802048"/>
            <a:ext cx="2990755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3200" b="1" u="sng" dirty="0" err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Birleştirme</a:t>
            </a:r>
            <a:r>
              <a:rPr lang="en-US" sz="3200" b="1" u="sng" dirty="0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99550" y="5802048"/>
            <a:ext cx="6459769" cy="419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640" lvl="2" indent="-182880" algn="l">
              <a:lnSpc>
                <a:spcPts val="3358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Farklı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sistemlerden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veriyi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çekip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dönüştürüp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diğerine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iletmek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için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ideal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dildir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(API &gt; PY &gt; SQL)</a:t>
            </a:r>
          </a:p>
          <a:p>
            <a:pPr marL="548640" lvl="2" indent="-182880" algn="l">
              <a:lnSpc>
                <a:spcPts val="3358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Farklı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dillerle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yazılmış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kütüphaneler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bu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dillerin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gücünü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birleştirebiliyor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Örneğin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C’nin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hızı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Python’un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kolaylığı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NumPy’da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buluşuyor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548640" lvl="2" indent="-182880" algn="l">
              <a:lnSpc>
                <a:spcPts val="3358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Kütüphane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zenginliği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sayesinde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farklı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sistemlere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erişmek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için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sıfırdan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yazılmasına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gerek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kalmaz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06763"/>
            <a:ext cx="5382435" cy="400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int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Tam sayılar (integer)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float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Ondalıklı sayılar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str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Metinler (string)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bool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Mantıksal ifadeler (boolean)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80475" y="2906763"/>
            <a:ext cx="5563905" cy="35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Dynamic Typing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Python’da değişken tiplerini önceden belirtmeye gerek yoktur.</a:t>
            </a:r>
          </a:p>
          <a:p>
            <a:pPr algn="ctr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Python çalışma esnasında (runtime) değişkenin tipini kendisi belirler.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960" name="Kod 1"/>
          <p:cNvGrpSpPr/>
          <p:nvPr/>
        </p:nvGrpSpPr>
        <p:grpSpPr>
          <a:xfrm>
            <a:off x="515293" y="3850000"/>
            <a:ext cx="9183680" cy="1634640"/>
            <a:chOff x="0" y="0"/>
            <a:chExt cx="12244906" cy="2179520"/>
          </a:xfrm>
        </p:grpSpPr>
        <p:sp>
          <p:nvSpPr>
            <p:cNvPr id="961" name="Kod 1 bg"/>
            <p:cNvSpPr/>
            <p:nvPr/>
          </p:nvSpPr>
          <p:spPr>
            <a:xfrm>
              <a:off x="0" y="0"/>
              <a:ext cx="12244906" cy="2179520"/>
            </a:xfrm>
            <a:custGeom>
              <a:avLst/>
              <a:gdLst/>
              <a:ahLst/>
              <a:cxnLst/>
              <a:rect l="l" t="t" r="r" b="b"/>
              <a:pathLst>
                <a:path w="12244906" h="2179520">
                  <a:moveTo>
                    <a:pt x="0" y="0"/>
                  </a:moveTo>
                  <a:lnTo>
                    <a:pt x="12244906" y="0"/>
                  </a:lnTo>
                  <a:lnTo>
                    <a:pt x="12244906" y="2179520"/>
                  </a:lnTo>
                  <a:lnTo>
                    <a:pt x="0" y="217952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62" name="Kod 1 text"/>
            <p:cNvSpPr txBox="1"/>
            <p:nvPr/>
          </p:nvSpPr>
          <p:spPr>
            <a:xfrm>
              <a:off x="0" y="0"/>
              <a:ext cx="12244906" cy="21795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= 10      </a:t>
              </a:r>
              <a:r>
                <a:rPr lang="en-US" sz="16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Integer (Tam sayı)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 = 2.5     </a:t>
              </a:r>
              <a:r>
                <a:rPr lang="en-US" sz="16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Float (Ondalıklı sayı)</a:t>
              </a:r>
            </a:p>
            <a:p>
              <a:pPr algn="l">
                <a:lnSpc>
                  <a:spcPts val="1920"/>
                </a:lnSpc>
              </a:pPr>
              <a:endParaRPr lang="en-US" sz="1600">
                <a:latin typeface="Courier New"/>
              </a:endParaR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sonuc = x + y</a:t>
              </a:r>
            </a:p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6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(sonuc)      </a:t>
              </a:r>
              <a:r>
                <a:rPr lang="en-US" sz="16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12.5</a:t>
              </a:r>
            </a:p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6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(type(sonuc)) </a:t>
              </a:r>
              <a:r>
                <a:rPr lang="en-US" sz="16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&lt;class 'float'&gt; -&gt; Python sonucu otomatik float yaptı</a:t>
              </a:r>
            </a:p>
          </p:txBody>
        </p:sp>
      </p:grpSp>
      <p:grpSp>
        <p:nvGrpSpPr>
          <p:cNvPr id="969" name="Kod 2"/>
          <p:cNvGrpSpPr/>
          <p:nvPr/>
        </p:nvGrpSpPr>
        <p:grpSpPr>
          <a:xfrm>
            <a:off x="515293" y="7850000"/>
            <a:ext cx="9183680" cy="1146960"/>
            <a:chOff x="0" y="0"/>
            <a:chExt cx="12244906" cy="1529280"/>
          </a:xfrm>
        </p:grpSpPr>
        <p:sp>
          <p:nvSpPr>
            <p:cNvPr id="970" name="Kod 2 bg"/>
            <p:cNvSpPr/>
            <p:nvPr/>
          </p:nvSpPr>
          <p:spPr>
            <a:xfrm>
              <a:off x="0" y="0"/>
              <a:ext cx="12244906" cy="1529280"/>
            </a:xfrm>
            <a:custGeom>
              <a:avLst/>
              <a:gdLst/>
              <a:ahLst/>
              <a:cxnLst/>
              <a:rect l="l" t="t" r="r" b="b"/>
              <a:pathLst>
                <a:path w="12244906" h="1529280">
                  <a:moveTo>
                    <a:pt x="0" y="0"/>
                  </a:moveTo>
                  <a:lnTo>
                    <a:pt x="12244906" y="0"/>
                  </a:lnTo>
                  <a:lnTo>
                    <a:pt x="12244906" y="1529280"/>
                  </a:lnTo>
                  <a:lnTo>
                    <a:pt x="0" y="152928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71" name="Kod 2 text"/>
            <p:cNvSpPr txBox="1"/>
            <p:nvPr/>
          </p:nvSpPr>
          <p:spPr>
            <a:xfrm>
              <a:off x="0" y="0"/>
              <a:ext cx="12244906" cy="15292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yas_metin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</a:t>
              </a:r>
              <a:r>
                <a:rPr lang="en-US" sz="16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"20"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 </a:t>
              </a:r>
              <a:r>
                <a:rPr lang="en-US" sz="1600" dirty="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str</a:t>
              </a:r>
            </a:p>
            <a:p>
              <a:pPr algn="l">
                <a:lnSpc>
                  <a:spcPts val="1920"/>
                </a:lnSpc>
              </a:pPr>
              <a:r>
                <a:rPr lang="en-US" sz="16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yas_sayi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int(</a:t>
              </a:r>
              <a:r>
                <a:rPr lang="en-US" sz="16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yas_metin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   </a:t>
              </a:r>
              <a:r>
                <a:rPr lang="en-US" sz="1600" dirty="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int </a:t>
              </a:r>
              <a:r>
                <a:rPr lang="en-US" sz="1600" dirty="0" err="1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yapıldı</a:t>
              </a:r>
              <a:endParaRPr lang="en-US" sz="1600" dirty="0">
                <a:solidFill>
                  <a:srgbClr val="5E8C5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algn="l">
                <a:lnSpc>
                  <a:spcPts val="1920"/>
                </a:lnSpc>
              </a:pPr>
              <a:endParaRPr lang="en-US" sz="1600" dirty="0">
                <a:latin typeface="Courier New"/>
              </a:endParaRPr>
            </a:p>
            <a:p>
              <a:pPr algn="l">
                <a:lnSpc>
                  <a:spcPts val="1920"/>
                </a:lnSpc>
              </a:pPr>
              <a:r>
                <a:rPr lang="en-US" sz="16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6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yas_sayi</a:t>
              </a:r>
              <a:r>
                <a:rPr lang="en-US" sz="16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+ 5)          </a:t>
              </a:r>
              <a:r>
                <a:rPr lang="en-US" sz="1600" dirty="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</a:t>
              </a:r>
              <a:r>
                <a:rPr lang="en-US" sz="1600" dirty="0" err="1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Çıktı</a:t>
              </a:r>
              <a:r>
                <a:rPr lang="en-US" sz="1600" dirty="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25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9808" y="2555281"/>
            <a:ext cx="7494651" cy="10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Typecasting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Python tipler arası dönüşümü de kendisi otomatik yapabilir. Örneğin: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9808" y="6576374"/>
            <a:ext cx="7494651" cy="10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Bazı durumlarda bu işi manuel olarak yapmamız gerekir. Örneğin: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95592" y="2307631"/>
            <a:ext cx="5316769" cy="549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Typecasting Fonksiyonları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int()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Veriyi tam sayıya dönüştürür.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float()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Veriyi ondalıklı sayıya dönüştürür.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str()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Veriyi metne (string) dönüştürür.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list()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tuple()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set()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: Veri koleksiyonlarını birbirine dönüştürür.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5" y="4788856"/>
            <a:ext cx="7494651" cy="1718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Uygulama_1: 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Kullanıcıdan doğum yılını alarak yaşını hesaplama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95592" y="4136431"/>
            <a:ext cx="6407391" cy="2443544"/>
            <a:chOff x="0" y="0"/>
            <a:chExt cx="8543188" cy="32580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3163" cy="3258058"/>
            </a:xfrm>
            <a:custGeom>
              <a:avLst/>
              <a:gdLst/>
              <a:ahLst/>
              <a:cxnLst/>
              <a:rect l="l" t="t" r="r" b="b"/>
              <a:pathLst>
                <a:path w="8543163" h="3258058">
                  <a:moveTo>
                    <a:pt x="0" y="0"/>
                  </a:moveTo>
                  <a:lnTo>
                    <a:pt x="8543163" y="0"/>
                  </a:lnTo>
                  <a:lnTo>
                    <a:pt x="8543163" y="3258058"/>
                  </a:lnTo>
                  <a:lnTo>
                    <a:pt x="0" y="3258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3" b="-163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0277" y="2940910"/>
            <a:ext cx="5316769" cy="648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Koleksiyonlar</a:t>
            </a:r>
            <a:endParaRPr lang="en-US" sz="2799" b="1" dirty="0">
              <a:solidFill>
                <a:srgbClr val="94E5F9"/>
              </a:solidFill>
              <a:latin typeface="Prompt Bold"/>
              <a:ea typeface="Prompt Bold"/>
              <a:cs typeface="Prompt Bold"/>
              <a:sym typeface="Prompt Bold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List: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Köşeli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parantez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oluşturulur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Sıralı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tekrara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izin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veren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yapısı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vardır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Tuple: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Parantez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oluşturulur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Sıralıdır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tekrara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izin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veren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yapısı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vardır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Oluşturulduktan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sonra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u="sng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değiştirilemez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(immutable</a:t>
            </a:r>
            <a:r>
              <a:rPr lang="en-US" sz="2799" u="sng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)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387046" y="2940910"/>
            <a:ext cx="5316769" cy="59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Koleksiyonlar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Set: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Süslü parantez ile oluşturulur. Sırasızdır ve tekrar eden değer barındıramaz.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Dictionary: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Key-Value çiftlerinden oluşan bir yapıdır. “Key”ler benzersizdir, tekrar edilemezler.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990" name="Kod 1"/>
          <p:cNvGrpSpPr/>
          <p:nvPr/>
        </p:nvGrpSpPr>
        <p:grpSpPr>
          <a:xfrm>
            <a:off x="1359808" y="6435852"/>
            <a:ext cx="7494651" cy="994560"/>
            <a:chOff x="0" y="0"/>
            <a:chExt cx="9992868" cy="1326080"/>
          </a:xfrm>
        </p:grpSpPr>
        <p:sp>
          <p:nvSpPr>
            <p:cNvPr id="991" name="Kod 1 bg"/>
            <p:cNvSpPr/>
            <p:nvPr/>
          </p:nvSpPr>
          <p:spPr>
            <a:xfrm>
              <a:off x="0" y="0"/>
              <a:ext cx="9992868" cy="1326080"/>
            </a:xfrm>
            <a:custGeom>
              <a:avLst/>
              <a:gdLst/>
              <a:ahLst/>
              <a:cxnLst/>
              <a:rect l="l" t="t" r="r" b="b"/>
              <a:pathLst>
                <a:path w="9992868" h="1326080">
                  <a:moveTo>
                    <a:pt x="0" y="0"/>
                  </a:moveTo>
                  <a:lnTo>
                    <a:pt x="9992868" y="0"/>
                  </a:lnTo>
                  <a:lnTo>
                    <a:pt x="9992868" y="1326080"/>
                  </a:lnTo>
                  <a:lnTo>
                    <a:pt x="0" y="132608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92" name="Kod 1 text"/>
            <p:cNvSpPr txBox="1"/>
            <p:nvPr/>
          </p:nvSpPr>
          <p:spPr>
            <a:xfrm>
              <a:off x="0" y="0"/>
              <a:ext cx="9992868" cy="132608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meyveler = [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"elma"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"armut"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"muz"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(meyveler[0], meyveler[2] 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(len(meyveler))</a:t>
              </a:r>
            </a:p>
          </p:txBody>
        </p:sp>
      </p:grpSp>
      <p:grpSp>
        <p:nvGrpSpPr>
          <p:cNvPr id="999" name="Kod 2"/>
          <p:cNvGrpSpPr/>
          <p:nvPr/>
        </p:nvGrpSpPr>
        <p:grpSpPr>
          <a:xfrm>
            <a:off x="9764649" y="4554341"/>
            <a:ext cx="7494651" cy="1817520"/>
            <a:chOff x="0" y="0"/>
            <a:chExt cx="9992868" cy="2423360"/>
          </a:xfrm>
        </p:grpSpPr>
        <p:sp>
          <p:nvSpPr>
            <p:cNvPr id="1000" name="Kod 2 bg"/>
            <p:cNvSpPr/>
            <p:nvPr/>
          </p:nvSpPr>
          <p:spPr>
            <a:xfrm>
              <a:off x="0" y="0"/>
              <a:ext cx="9992868" cy="2423360"/>
            </a:xfrm>
            <a:custGeom>
              <a:avLst/>
              <a:gdLst/>
              <a:ahLst/>
              <a:cxnLst/>
              <a:rect l="l" t="t" r="r" b="b"/>
              <a:pathLst>
                <a:path w="9992868" h="2423360">
                  <a:moveTo>
                    <a:pt x="0" y="0"/>
                  </a:moveTo>
                  <a:lnTo>
                    <a:pt x="9992868" y="0"/>
                  </a:lnTo>
                  <a:lnTo>
                    <a:pt x="9992868" y="2423360"/>
                  </a:lnTo>
                  <a:lnTo>
                    <a:pt x="0" y="242336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01" name="Kod 2 text"/>
            <p:cNvSpPr txBox="1"/>
            <p:nvPr/>
          </p:nvSpPr>
          <p:spPr>
            <a:xfrm>
              <a:off x="0" y="0"/>
              <a:ext cx="9992868" cy="242336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ogrenci = {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"ad"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"Yusuf"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"Yas"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21,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"Numara"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1119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(ogrenci[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"ad"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], ogrenci[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"Numara"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9808" y="2555281"/>
            <a:ext cx="7494651" cy="152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Index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: Sıralı bir koleksiyonda değerin konumunu ifade eden sayısal değerdir. 0'dan başlar.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9808" y="4440041"/>
            <a:ext cx="7494651" cy="10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 listenin uzunluğunu bulmak için </a:t>
            </a: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len()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fonksiyonu kullanılır.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64649" y="2555281"/>
            <a:ext cx="7494651" cy="152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u="sng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Dictionary yapısı</a:t>
            </a: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Listeler gibi indexlere sahip değildir. Index yerine key’leri kullanır.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891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33692" y="-4005253"/>
            <a:ext cx="11327416" cy="9638595"/>
            <a:chOff x="0" y="0"/>
            <a:chExt cx="15103221" cy="128514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277" y="2940910"/>
            <a:ext cx="5316769" cy="450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Koleksiyon İşlemleri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Koleksiyonlar üzerinde pek çok işlem yapmamızı sağlayan pek çok metot ve fonksiyon vardır.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Ekleme, silme, parçalama, düzenleme vb. işlevleri vardır.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891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0029" y="2940910"/>
            <a:ext cx="5316769" cy="598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String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İşlemleri</a:t>
            </a:r>
            <a:endParaRPr lang="en-US" sz="2799" b="1" dirty="0">
              <a:solidFill>
                <a:srgbClr val="94E5F9"/>
              </a:solidFill>
              <a:latin typeface="Prompt Bold"/>
              <a:ea typeface="Prompt Bold"/>
              <a:cs typeface="Prompt Bold"/>
              <a:sym typeface="Prompt Bold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Stringler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aslında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harflerden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oluşan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tr-TR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karakter dizisidir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Bu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sayede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stringler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üzerinde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ihtiyacımıza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göre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işlemler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yapabiliyoruz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Ancak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stringler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değiştirilemezlerdir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(immutable)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4653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5" y="4788856"/>
            <a:ext cx="7494651" cy="228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Uygulama_2: 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Kirli olan string veriyi temizleme ve formatlama</a:t>
            </a:r>
          </a:p>
          <a:p>
            <a:pPr algn="ctr">
              <a:lnSpc>
                <a:spcPts val="4479"/>
              </a:lnSpc>
            </a:pPr>
            <a:endParaRPr lang="en-US" sz="3198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5" y="4788856"/>
            <a:ext cx="7494651" cy="1718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Uygulama_3: 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Alışveriş listesini düzenleme</a:t>
            </a:r>
          </a:p>
          <a:p>
            <a:pPr algn="ctr">
              <a:lnSpc>
                <a:spcPts val="4479"/>
              </a:lnSpc>
            </a:pPr>
            <a:endParaRPr lang="en-US" sz="3198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030" name="Kod 1"/>
          <p:cNvGrpSpPr/>
          <p:nvPr/>
        </p:nvGrpSpPr>
        <p:grpSpPr>
          <a:xfrm>
            <a:off x="2195427" y="5665851"/>
            <a:ext cx="5298967" cy="2091839"/>
            <a:chOff x="0" y="0"/>
            <a:chExt cx="7065289" cy="2789118"/>
          </a:xfrm>
        </p:grpSpPr>
        <p:sp>
          <p:nvSpPr>
            <p:cNvPr id="1031" name="Kod 1 bg"/>
            <p:cNvSpPr/>
            <p:nvPr/>
          </p:nvSpPr>
          <p:spPr>
            <a:xfrm>
              <a:off x="0" y="0"/>
              <a:ext cx="7065289" cy="2789118"/>
            </a:xfrm>
            <a:custGeom>
              <a:avLst/>
              <a:gdLst/>
              <a:ahLst/>
              <a:cxnLst/>
              <a:rect l="l" t="t" r="r" b="b"/>
              <a:pathLst>
                <a:path w="7065289" h="2789118">
                  <a:moveTo>
                    <a:pt x="0" y="0"/>
                  </a:moveTo>
                  <a:lnTo>
                    <a:pt x="7065289" y="0"/>
                  </a:lnTo>
                  <a:lnTo>
                    <a:pt x="7065289" y="2789118"/>
                  </a:lnTo>
                  <a:lnTo>
                    <a:pt x="0" y="278911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32" name="Kod 1 text"/>
            <p:cNvSpPr txBox="1"/>
            <p:nvPr/>
          </p:nvSpPr>
          <p:spPr>
            <a:xfrm>
              <a:off x="0" y="0"/>
              <a:ext cx="7065289" cy="278911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sayi = 11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sayi == 0: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"Sayı sıfırdır"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elif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sayi &gt; 0: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"Sayı pozitiftir"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else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"Sayı negatiftir"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grpSp>
        <p:nvGrpSpPr>
          <p:cNvPr id="1039" name="Kod 2"/>
          <p:cNvGrpSpPr/>
          <p:nvPr/>
        </p:nvGrpSpPr>
        <p:grpSpPr>
          <a:xfrm>
            <a:off x="10867930" y="5403466"/>
            <a:ext cx="6140987" cy="1268880"/>
            <a:chOff x="0" y="0"/>
            <a:chExt cx="8187982" cy="1691840"/>
          </a:xfrm>
        </p:grpSpPr>
        <p:sp>
          <p:nvSpPr>
            <p:cNvPr id="1040" name="Kod 2 bg"/>
            <p:cNvSpPr/>
            <p:nvPr/>
          </p:nvSpPr>
          <p:spPr>
            <a:xfrm>
              <a:off x="0" y="0"/>
              <a:ext cx="8187982" cy="1691840"/>
            </a:xfrm>
            <a:custGeom>
              <a:avLst/>
              <a:gdLst/>
              <a:ahLst/>
              <a:cxnLst/>
              <a:rect l="l" t="t" r="r" b="b"/>
              <a:pathLst>
                <a:path w="8187982" h="1691840">
                  <a:moveTo>
                    <a:pt x="0" y="0"/>
                  </a:moveTo>
                  <a:lnTo>
                    <a:pt x="8187982" y="0"/>
                  </a:lnTo>
                  <a:lnTo>
                    <a:pt x="8187982" y="1691840"/>
                  </a:lnTo>
                  <a:lnTo>
                    <a:pt x="0" y="169184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41" name="Kod 2 text"/>
            <p:cNvSpPr txBox="1"/>
            <p:nvPr/>
          </p:nvSpPr>
          <p:spPr>
            <a:xfrm>
              <a:off x="0" y="0"/>
              <a:ext cx="8187982" cy="169184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if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sayi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&gt;=</a:t>
              </a:r>
              <a:r>
                <a:rPr lang="tr-TR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 </a:t>
              </a:r>
              <a:r>
                <a:rPr lang="en-US" sz="18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and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sayi</a:t>
              </a:r>
              <a:r>
                <a:rPr lang="tr-TR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</a:t>
              </a:r>
              <a:r>
                <a:rPr lang="tr-TR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 == 0: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Sayı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pozitif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çifttir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else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 dirty="0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Sayı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istenen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kriterlerde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 dirty="0" err="1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değil</a:t>
              </a:r>
              <a:r>
                <a:rPr lang="en-US" sz="1800" dirty="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9808" y="2883789"/>
            <a:ext cx="7494651" cy="251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Koşul İfadeleri: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if/elif/else :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Belirli koşulların sağlanıp sağlanmadığına göre devreye giren ve kendilerine ait kodları çalıştıran yapılardır. </a:t>
            </a: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0038" y="2717549"/>
            <a:ext cx="2658389" cy="251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Mantıksal Operatörler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and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91097" y="7430774"/>
            <a:ext cx="7494651" cy="251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Not: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Pythonda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boşluklar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hizalama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çok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önemlidir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Syntax’ın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temel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kurallarından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biri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budur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 Bu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sayede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noktalı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virgül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gibi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şeylere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ihtiyaç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duymadan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kodu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yapısını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anlar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891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38428" y="2717549"/>
            <a:ext cx="2658389" cy="251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Karşılaştırma Operatörleri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==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&gt;=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&lt;=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94810" y="3212849"/>
            <a:ext cx="2658389" cy="202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endParaRPr/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!=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&gt;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&lt;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17549"/>
            <a:ext cx="7494651" cy="34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Döngüler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algn="l">
              <a:lnSpc>
                <a:spcPts val="3918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Neden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Kullanılır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639958" lvl="2" indent="-213319" algn="l">
              <a:lnSpc>
                <a:spcPts val="3918"/>
              </a:lnSpc>
              <a:buAutoNum type="arabicPeriod"/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tekrarını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azaltır</a:t>
            </a:r>
            <a:endParaRPr lang="en-US" sz="2799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AutoNum type="arabicPeriod"/>
            </a:pP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Listeler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içinde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gezinmeyi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sağlar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</a:p>
          <a:p>
            <a:pPr marL="639958" lvl="2" indent="-213319" algn="l">
              <a:lnSpc>
                <a:spcPts val="3918"/>
              </a:lnSpc>
              <a:buAutoNum type="arabicPeriod"/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Dinamiklik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sağlar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(</a:t>
            </a:r>
            <a:r>
              <a:rPr lang="tr-TR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L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istenin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uzunluğunu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bil</a:t>
            </a:r>
            <a:r>
              <a:rPr lang="tr-TR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in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miyor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799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olsa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bile</a:t>
            </a:r>
            <a:r>
              <a:rPr lang="tr-TR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ihtiyacınız olan işlemleri yapabilirsiniz</a:t>
            </a:r>
            <a:r>
              <a:rPr lang="en-US" sz="2799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64649" y="2717549"/>
            <a:ext cx="7494651" cy="648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Döngüler:</a:t>
            </a: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for Döngüsü: 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 listenin, metnin veya belirli bir sayı aralığının (range) elemanları üzerinde sırayla gezinmek için kullanılır. Kaç defa döneceği genellikle baştan bellidir.</a:t>
            </a:r>
          </a:p>
          <a:p>
            <a:pPr marL="639958" lvl="2" indent="-213319" algn="l">
              <a:lnSpc>
                <a:spcPts val="3918"/>
              </a:lnSpc>
            </a:pPr>
            <a:endParaRPr lang="en-US" sz="2799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39958" lvl="2" indent="-213319" algn="l">
              <a:lnSpc>
                <a:spcPts val="3918"/>
              </a:lnSpc>
              <a:buFont typeface="Arial"/>
              <a:buChar char="⚬"/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while Döngüsü:</a:t>
            </a: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Belirtilen bir koşul True (doğru) olduğu sürece çalışmaya devam eden döngüdür. İşlemin kaç kez tekrarlanacağı önceden bilinmediğinde veya bir durum gerçekleşene kadar devam etmesi istendiğinde kullanılır.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5891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4653" y="9596933"/>
            <a:ext cx="1748761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Python Temelleri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5" y="4788856"/>
            <a:ext cx="7494651" cy="1718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Uygulama_4: 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Kullanıcıdan istenen formatta şifre alma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060" name="Kod 1"/>
          <p:cNvGrpSpPr/>
          <p:nvPr/>
        </p:nvGrpSpPr>
        <p:grpSpPr>
          <a:xfrm>
            <a:off x="9764649" y="3499999"/>
            <a:ext cx="7494651" cy="2640480"/>
            <a:chOff x="0" y="0"/>
            <a:chExt cx="9992868" cy="3520640"/>
          </a:xfrm>
        </p:grpSpPr>
        <p:sp>
          <p:nvSpPr>
            <p:cNvPr id="1061" name="Kod 1 bg"/>
            <p:cNvSpPr/>
            <p:nvPr/>
          </p:nvSpPr>
          <p:spPr>
            <a:xfrm>
              <a:off x="0" y="0"/>
              <a:ext cx="9992868" cy="3520640"/>
            </a:xfrm>
            <a:custGeom>
              <a:avLst/>
              <a:gdLst/>
              <a:ahLst/>
              <a:cxnLst/>
              <a:rect l="l" t="t" r="r" b="b"/>
              <a:pathLst>
                <a:path w="9992868" h="3520640">
                  <a:moveTo>
                    <a:pt x="0" y="0"/>
                  </a:moveTo>
                  <a:lnTo>
                    <a:pt x="9992868" y="0"/>
                  </a:lnTo>
                  <a:lnTo>
                    <a:pt x="9992868" y="3520640"/>
                  </a:lnTo>
                  <a:lnTo>
                    <a:pt x="0" y="352064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62" name="Kod 1 text"/>
            <p:cNvSpPr txBox="1"/>
            <p:nvPr/>
          </p:nvSpPr>
          <p:spPr>
            <a:xfrm>
              <a:off x="0" y="0"/>
              <a:ext cx="9992868" cy="352064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selamla(isim, saat):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saat &lt; 12: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return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"Günaydın 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isim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return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"Merhaba 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isim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latin typeface="Courier New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mesaj = selamla(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"Ali"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14)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(mesaj)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Merhaba Ali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latin typeface="Courier New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(selamla(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"Ayşe"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9))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Günaydın Ayşe</a:t>
              </a: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Fonksiyonlar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9808" y="2755649"/>
            <a:ext cx="7494651" cy="498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Fonksiyonlar: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Tanım: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Belirli bir işi yapan, adı olan ve tekrar tekrar çağrılabilen kod bloğudur.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def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 tanımlanır, adıyla çağrılır.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return: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sonucu geri verir. Yoksa None döner.</a:t>
            </a:r>
          </a:p>
          <a:p>
            <a:pPr marL="615949" lvl="2" indent="-205316" algn="l">
              <a:lnSpc>
                <a:spcPts val="3600"/>
              </a:lnSpc>
            </a:pPr>
            <a:endParaRPr lang="en-US" sz="260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63092" lvl="2" indent="-221031"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Neden Kullanılır:</a:t>
            </a:r>
          </a:p>
          <a:p>
            <a:pPr marL="615949" lvl="2" indent="-205316" algn="l">
              <a:lnSpc>
                <a:spcPts val="3600"/>
              </a:lnSpc>
              <a:buAutoNum type="arabicPeriod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 tekrarını azaltır</a:t>
            </a:r>
          </a:p>
          <a:p>
            <a:pPr marL="615949" lvl="2" indent="-205316" algn="l">
              <a:lnSpc>
                <a:spcPts val="3600"/>
              </a:lnSpc>
              <a:buAutoNum type="arabicPeriod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Kodu okunabilir ve düzenli yapar</a:t>
            </a:r>
          </a:p>
          <a:p>
            <a:pPr marL="615949" lvl="2" indent="-205316" algn="l">
              <a:lnSpc>
                <a:spcPts val="3600"/>
              </a:lnSpc>
              <a:buAutoNum type="arabicPeriod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Test etmeyi ve hata bulmayı kolaylaştırır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64649" y="2755649"/>
            <a:ext cx="7494651" cy="51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Örnek: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Fonksiyonlar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551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Parametre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Türleri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Konumsal</a:t>
            </a: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Sırayla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yazılmalı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Keyword: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Parametre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ismi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kullanılır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sıra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önemsizdir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Varsayılan</a:t>
            </a: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 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Değer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verilmezse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kullanılır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*</a:t>
            </a:r>
            <a:r>
              <a:rPr lang="en-US" sz="2400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args</a:t>
            </a: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istenen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sayıda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değer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alır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591818" lvl="2" indent="-197273" algn="l">
              <a:lnSpc>
                <a:spcPts val="3600"/>
              </a:lnSpc>
            </a:pP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90208" lvl="2" indent="-230069" algn="ctr">
              <a:lnSpc>
                <a:spcPts val="3599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Kapsam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Local: </a:t>
            </a:r>
            <a:r>
              <a:rPr lang="en-US" sz="2400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F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onksiyon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içinde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tanımlanan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değişken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sadece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orada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geçerlidir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Global: 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Fonk</a:t>
            </a:r>
            <a:r>
              <a:rPr lang="tr-TR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yon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dışında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tanımlanan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değişkene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her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yerden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erişilebilir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64649" y="2755649"/>
            <a:ext cx="7494651" cy="51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Örnek: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64649" y="3499999"/>
            <a:ext cx="7494651" cy="4823073"/>
            <a:chOff x="0" y="0"/>
            <a:chExt cx="9992868" cy="6430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92868" cy="6430719"/>
            </a:xfrm>
            <a:custGeom>
              <a:avLst/>
              <a:gdLst/>
              <a:ahLst/>
              <a:cxnLst/>
              <a:rect l="l" t="t" r="r" b="b"/>
              <a:pathLst>
                <a:path w="9992868" h="6430719">
                  <a:moveTo>
                    <a:pt x="0" y="0"/>
                  </a:moveTo>
                  <a:lnTo>
                    <a:pt x="9992868" y="0"/>
                  </a:lnTo>
                  <a:lnTo>
                    <a:pt x="9992868" y="6430719"/>
                  </a:lnTo>
                  <a:lnTo>
                    <a:pt x="0" y="643071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992868" cy="644028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bilgi(ad, yas=18):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(ad, yas)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bilgi(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"Ali"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          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Ali 18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bilgi(yas=20, ad=</a:t>
              </a:r>
              <a:r>
                <a:rPr lang="en-US" sz="18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"Ayşe"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Ayşe 20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topla(*sayilar):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return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sum(sayilar)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(topla(1, 2, 3))  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6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= 10          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global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f():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x = 5       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local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return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x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18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(f(), x)      </a:t>
              </a:r>
              <a:r>
                <a:rPr lang="en-US" sz="18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5 10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5891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ornek_7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Fonksiyonlar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4" y="4788856"/>
            <a:ext cx="7494651" cy="166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Uygulama_5: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Not ortalamasını hesaplayıp harf notu döndüren fonksiyonlar yazma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453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Nesne Yönelimli Programlama: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Kodu gerçek hayattaki nesneler gibi modelleme yaklaşımıdır.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Class: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nesnelerin şablonu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Object: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sınıftan üretilen örnek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Attribute: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nesnenin özellikleri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Method: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nesnenin davranışları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__init__: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nesne oluşurken çalışan kurucu metot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self: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nesnenin kendisi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64649" y="2755649"/>
            <a:ext cx="7494651" cy="51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Örnek: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64649" y="3499999"/>
            <a:ext cx="7494651" cy="4300480"/>
            <a:chOff x="0" y="0"/>
            <a:chExt cx="9992868" cy="5733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92868" cy="5733922"/>
            </a:xfrm>
            <a:custGeom>
              <a:avLst/>
              <a:gdLst/>
              <a:ahLst/>
              <a:cxnLst/>
              <a:rect l="l" t="t" r="r" b="b"/>
              <a:pathLst>
                <a:path w="9992868" h="5733922">
                  <a:moveTo>
                    <a:pt x="0" y="0"/>
                  </a:moveTo>
                  <a:lnTo>
                    <a:pt x="9992868" y="0"/>
                  </a:lnTo>
                  <a:lnTo>
                    <a:pt x="9992868" y="5733922"/>
                  </a:lnTo>
                  <a:lnTo>
                    <a:pt x="0" y="5733922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992868" cy="574349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class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Ogrenci: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__init__(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ad, no):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.ad = ad   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attribute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.no = no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tanit(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):   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method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.ad,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.no)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o1 = Ogrenci(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"Yusuf"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1119)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o2 = Ogrenci(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"Ayşe"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1120)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o1.tanit() 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Yusuf 1119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o2.tanit() 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Ayşe 1120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402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Nesne Yönelimli Programlama: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Neden kullanılır: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Eğer elimizdeki “nesne”nin sadece özellikleri değil de yapabildikleri eylemler de varsa class kullanmamız gerekir.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Kısacası hem veri hem de eylemleri bir arada tutmak için kullanılır.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Örneğin akıllı ev sistemlerinde klima veya televizyon.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18020" y="2755649"/>
            <a:ext cx="7494651" cy="582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Klima Örneği: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Tutmamız gereken veriler (özellikler) vardır: renk, model, marka...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Yaptığı eylemler (metotlar) vardır: açıl, soğut, ısıt...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Neden class olmalı? Çünkü farklı klimalar birbirinden bağımsız hareket edebilmeli.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Örneğin salon ve mutfaktaki klimaların modelleri farklı olabilir, aynı anda farklı derecelerde çalışabilirler.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Class klimalara uymaları gereken şablonu verir ve her klima (nesne) bağımsız olarak çalışır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5891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96674" y="4788856"/>
            <a:ext cx="7494651" cy="222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Uygulama_6:</a:t>
            </a:r>
          </a:p>
          <a:p>
            <a:pPr algn="ctr">
              <a:lnSpc>
                <a:spcPts val="4479"/>
              </a:lnSpc>
            </a:pPr>
            <a:r>
              <a:rPr lang="en-US" sz="3198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Para yatırma, çekme ve bakiye sorgulama yapabilen BankaHesabi sınıfı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Yazılım Prensipleri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498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Temel Prensipler: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DRY: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Kendini tekrar etme (Don't Repeat Yourself). Tekrar eden kodu fonksiyona taşı.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KISS: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Basit tut (Keep It Simple). En sade çözüm genelde en iyisidir.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YAGNI: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İhtiyacın olmayanı yazma.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SRP: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Her fonksiyon/sınıf tek bir iş yapmalı.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No Magic Numbers: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Ne işe yaradığı belli olmayan sayılar yazma, isim ver.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PEP 8: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Python kod stil rehberi.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64649" y="2755649"/>
            <a:ext cx="7494651" cy="51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DRY Örneği: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64649" y="3499999"/>
            <a:ext cx="7494651" cy="4410894"/>
            <a:chOff x="0" y="0"/>
            <a:chExt cx="9992868" cy="58811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92868" cy="5881146"/>
            </a:xfrm>
            <a:custGeom>
              <a:avLst/>
              <a:gdLst/>
              <a:ahLst/>
              <a:cxnLst/>
              <a:rect l="l" t="t" r="r" b="b"/>
              <a:pathLst>
                <a:path w="9992868" h="5881146">
                  <a:moveTo>
                    <a:pt x="0" y="0"/>
                  </a:moveTo>
                  <a:lnTo>
                    <a:pt x="9992868" y="0"/>
                  </a:lnTo>
                  <a:lnTo>
                    <a:pt x="9992868" y="5881146"/>
                  </a:lnTo>
                  <a:lnTo>
                    <a:pt x="0" y="5881146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992868" cy="589071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Kötü: aynı iş tekrar ediliyor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"Merhaba Ali"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"Merhaba Ayşe"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"Merhaba Can"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İyi: fonksiyon + döngü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def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selamla(isim):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"Merhaba 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isim)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for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isim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in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"Ali"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"Ayşe"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2100">
                  <a:solidFill>
                    <a:srgbClr val="B54A1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"Can"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selamla(isim)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endParaRPr lang="en-US"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5891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Modüller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347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Modüller: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Modül: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başka dosyalarda kullanabileceğimiz .py dosyasıdır.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Paket: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modüllerin bulunduğu klasördür.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Standart kütüphane: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math, random, datetime, os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Harici paketler: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pip ile kurulur (requests, numpy, pandas)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import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ile kullanıma alınır.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64649" y="2755649"/>
            <a:ext cx="7494651" cy="51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Örnek: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64649" y="3499999"/>
            <a:ext cx="7494651" cy="4620520"/>
            <a:chOff x="0" y="0"/>
            <a:chExt cx="9992868" cy="61606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92868" cy="6160643"/>
            </a:xfrm>
            <a:custGeom>
              <a:avLst/>
              <a:gdLst/>
              <a:ahLst/>
              <a:cxnLst/>
              <a:rect l="l" t="t" r="r" b="b"/>
              <a:pathLst>
                <a:path w="9992868" h="6160643">
                  <a:moveTo>
                    <a:pt x="0" y="0"/>
                  </a:moveTo>
                  <a:lnTo>
                    <a:pt x="9992868" y="0"/>
                  </a:lnTo>
                  <a:lnTo>
                    <a:pt x="9992868" y="6160643"/>
                  </a:lnTo>
                  <a:lnTo>
                    <a:pt x="0" y="6160643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992868" cy="617021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import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math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random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import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randint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import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datetime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as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(math.sqrt(16))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4.0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(randint(1, 6))   </a:t>
              </a: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rastgele zar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(dt.date.today())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Kendi modülümüz: araclar.py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araclar </a:t>
              </a:r>
              <a:r>
                <a:rPr lang="en-US" sz="2100" b="1">
                  <a:solidFill>
                    <a:srgbClr val="1F4F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import</a:t>
              </a:r>
              <a:r>
                <a:rPr lang="en-US" sz="210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topla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Terminalde paket kurulumu: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E8C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pip install requests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Modüller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9808" y="2755649"/>
            <a:ext cx="7494651" cy="3573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Math Modülü: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Karmaşık matematiksel hesaplamalar, yuvarlama işlemleri ve trigonometrik fonksiyonlar için hazır kütüphanedir.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import math </a:t>
            </a: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şeklinde çağrılır.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C ile yazıldığından çok hızlıdır.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Standart kütüphane olduğu için yüklemeye gerek kalmaz.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18020" y="2755649"/>
            <a:ext cx="7494651" cy="413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Random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Modülü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Şans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olasılık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rastgelelik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gerektiren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durumlarda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kullandığımız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hazır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kütüphanedir</a:t>
            </a:r>
            <a:r>
              <a:rPr lang="en-US" sz="26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en-US" sz="2600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import random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şeklinde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çağrılır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15824" lvl="2" indent="-205275" algn="l">
              <a:lnSpc>
                <a:spcPts val="3598"/>
              </a:lnSpc>
              <a:buFont typeface="Arial"/>
              <a:buChar char="⚬"/>
            </a:pPr>
            <a:r>
              <a:rPr lang="tr-TR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Büyük ölçüde Python ile yazılmış, çekirdeği C ile yazılmıştır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615949" lvl="2" indent="-205316" algn="l">
              <a:lnSpc>
                <a:spcPts val="3600"/>
              </a:lnSpc>
              <a:buFont typeface="Arial"/>
              <a:buChar char="⚬"/>
            </a:pP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Standart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kütüphane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olduğu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için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yüklemeye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gerek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6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kalmaz</a:t>
            </a:r>
            <a:r>
              <a:rPr lang="en-US" sz="26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5891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4653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ornek_11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77" y="1981743"/>
            <a:ext cx="8073723" cy="420929"/>
          </a:xfrm>
          <a:custGeom>
            <a:avLst/>
            <a:gdLst/>
            <a:ahLst/>
            <a:cxnLst/>
            <a:rect l="l" t="t" r="r" b="b"/>
            <a:pathLst>
              <a:path w="8073723" h="420929">
                <a:moveTo>
                  <a:pt x="0" y="0"/>
                </a:moveTo>
                <a:lnTo>
                  <a:pt x="8073723" y="0"/>
                </a:lnTo>
                <a:lnTo>
                  <a:pt x="8073723" y="420929"/>
                </a:lnTo>
                <a:lnTo>
                  <a:pt x="0" y="420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359808" y="2755649"/>
            <a:ext cx="7494651" cy="45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Kura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ve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Grup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 </a:t>
            </a: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Sistemi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591617" lvl="2" indent="-197206" algn="l">
              <a:lnSpc>
                <a:spcPts val="3600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Öğrencileri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rastgele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gruplandırmak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ve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rastgele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öğrenci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seçimi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yapmak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üzere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tasarlanmış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sistem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591818" lvl="2" indent="-197273" algn="l">
              <a:lnSpc>
                <a:spcPts val="3600"/>
              </a:lnSpc>
            </a:pP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690208" lvl="2" indent="-230069" algn="ctr">
              <a:lnSpc>
                <a:spcPts val="3599"/>
              </a:lnSpc>
            </a:pPr>
            <a:r>
              <a:rPr lang="en-US" sz="2799" b="1" dirty="0" err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Görevler</a:t>
            </a:r>
            <a:r>
              <a:rPr lang="en-US" sz="2799" b="1" dirty="0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:</a:t>
            </a:r>
          </a:p>
          <a:p>
            <a:pPr marL="591617" lvl="2" indent="-197206" algn="l">
              <a:lnSpc>
                <a:spcPts val="3600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Modüler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bir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mimari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inşa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edilmeli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  <a:p>
            <a:pPr marL="591818" lvl="2" indent="-197273" algn="l">
              <a:lnSpc>
                <a:spcPts val="3600"/>
              </a:lnSpc>
              <a:buFont typeface="Arial"/>
              <a:buChar char="⚬"/>
            </a:pP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Öğrenci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ekleme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rastgele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öğrenci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seçimi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grup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sayısı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hesaplama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öğrencileri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gruplara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göre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düzenleme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gibi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işlevleri</a:t>
            </a:r>
            <a:r>
              <a:rPr lang="en-US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2400" dirty="0" err="1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olmalı</a:t>
            </a:r>
            <a:r>
              <a:rPr lang="tr-TR" sz="2400" dirty="0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  <a:endParaRPr lang="en-US" sz="2400" dirty="0">
              <a:solidFill>
                <a:srgbClr val="94E5F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1595592" y="-4005253"/>
            <a:ext cx="11327416" cy="9638595"/>
            <a:chOff x="0" y="0"/>
            <a:chExt cx="15103221" cy="12851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03221" cy="12851511"/>
            </a:xfrm>
            <a:custGeom>
              <a:avLst/>
              <a:gdLst/>
              <a:ahLst/>
              <a:cxnLst/>
              <a:rect l="l" t="t" r="r" b="b"/>
              <a:pathLst>
                <a:path w="15103221" h="12851511">
                  <a:moveTo>
                    <a:pt x="0" y="0"/>
                  </a:moveTo>
                  <a:lnTo>
                    <a:pt x="15103221" y="0"/>
                  </a:lnTo>
                  <a:lnTo>
                    <a:pt x="15103221" y="12851511"/>
                  </a:lnTo>
                  <a:lnTo>
                    <a:pt x="0" y="1285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64649" y="2755649"/>
            <a:ext cx="7494651" cy="436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799" b="1">
                <a:solidFill>
                  <a:srgbClr val="94E5F9"/>
                </a:solidFill>
                <a:latin typeface="Prompt Bold"/>
                <a:ea typeface="Prompt Bold"/>
                <a:cs typeface="Prompt Bold"/>
                <a:sym typeface="Prompt Bold"/>
              </a:rPr>
              <a:t>Proje İskeleti:</a:t>
            </a:r>
          </a:p>
        </p:txBody>
      </p:sp>
      <p:grpSp>
        <p:nvGrpSpPr>
          <p:cNvPr id="1150" name="Proje iskeleti"/>
          <p:cNvGrpSpPr/>
          <p:nvPr/>
        </p:nvGrpSpPr>
        <p:grpSpPr>
          <a:xfrm>
            <a:off x="9764649" y="3499999"/>
            <a:ext cx="7494651" cy="1817520"/>
            <a:chOff x="0" y="0"/>
            <a:chExt cx="9992868" cy="2423360"/>
          </a:xfrm>
        </p:grpSpPr>
        <p:sp>
          <p:nvSpPr>
            <p:cNvPr id="1151" name="Proje iskeleti bg"/>
            <p:cNvSpPr/>
            <p:nvPr/>
          </p:nvSpPr>
          <p:spPr>
            <a:xfrm>
              <a:off x="0" y="0"/>
              <a:ext cx="9992868" cy="2423360"/>
            </a:xfrm>
            <a:custGeom>
              <a:avLst/>
              <a:gdLst/>
              <a:ahLst/>
              <a:cxnLst/>
              <a:rect l="l" t="t" r="r" b="b"/>
              <a:pathLst>
                <a:path w="9992868" h="2423360">
                  <a:moveTo>
                    <a:pt x="0" y="0"/>
                  </a:moveTo>
                  <a:lnTo>
                    <a:pt x="9992868" y="0"/>
                  </a:lnTo>
                  <a:lnTo>
                    <a:pt x="9992868" y="2423360"/>
                  </a:lnTo>
                  <a:lnTo>
                    <a:pt x="0" y="242336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152" name="Proje iskeleti text"/>
            <p:cNvSpPr txBox="1"/>
            <p:nvPr/>
          </p:nvSpPr>
          <p:spPr>
            <a:xfrm>
              <a:off x="0" y="0"/>
              <a:ext cx="9992868" cy="242336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son_proje</a:t>
              </a:r>
              <a:endParaRPr lang="en-US" sz="1800" dirty="0">
                <a:solidFill>
                  <a:srgbClr val="1E25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</a:t>
              </a:r>
              <a:r>
                <a:rPr lang="en-US" sz="1800" dirty="0" err="1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src</a:t>
              </a:r>
              <a:endParaRPr lang="en-US" sz="1800" dirty="0">
                <a:solidFill>
                  <a:srgbClr val="1E25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├── araclar.py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├── ogrenci_yonetimi.py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└── </a:t>
              </a:r>
              <a:r>
                <a:rPr lang="tr-TR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sistem</a:t>
              </a: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.py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E25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main.py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0277" y="1009650"/>
            <a:ext cx="91477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8"/>
              </a:lnSpc>
            </a:pPr>
            <a:r>
              <a:rPr lang="en-US" sz="6398" b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Son Proje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891" y="9596933"/>
            <a:ext cx="1748761" cy="48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94E5F9"/>
                </a:solidFill>
                <a:latin typeface="Prompt"/>
                <a:ea typeface="Prompt"/>
                <a:cs typeface="Prompt"/>
                <a:sym typeface="Prompt"/>
              </a:rPr>
              <a:t>son_proje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42" r="-334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" name="Freeform 4"/>
          <p:cNvSpPr/>
          <p:nvPr/>
        </p:nvSpPr>
        <p:spPr>
          <a:xfrm>
            <a:off x="2544004" y="1943233"/>
            <a:ext cx="13199993" cy="6334725"/>
          </a:xfrm>
          <a:custGeom>
            <a:avLst/>
            <a:gdLst/>
            <a:ahLst/>
            <a:cxnLst/>
            <a:rect l="l" t="t" r="r" b="b"/>
            <a:pathLst>
              <a:path w="13199993" h="6334725">
                <a:moveTo>
                  <a:pt x="0" y="0"/>
                </a:moveTo>
                <a:lnTo>
                  <a:pt x="13199992" y="0"/>
                </a:lnTo>
                <a:lnTo>
                  <a:pt x="13199992" y="6334725"/>
                </a:lnTo>
                <a:lnTo>
                  <a:pt x="0" y="633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2352275" y="2000298"/>
            <a:ext cx="13583460" cy="395849"/>
          </a:xfrm>
          <a:custGeom>
            <a:avLst/>
            <a:gdLst/>
            <a:ahLst/>
            <a:cxnLst/>
            <a:rect l="l" t="t" r="r" b="b"/>
            <a:pathLst>
              <a:path w="13583460" h="395849">
                <a:moveTo>
                  <a:pt x="0" y="0"/>
                </a:moveTo>
                <a:lnTo>
                  <a:pt x="13583460" y="0"/>
                </a:lnTo>
                <a:lnTo>
                  <a:pt x="13583460" y="395849"/>
                </a:lnTo>
                <a:lnTo>
                  <a:pt x="0" y="395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2352275" y="2000298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7" y="0"/>
                </a:lnTo>
                <a:lnTo>
                  <a:pt x="408727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15743996" y="2000298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2352275" y="7890843"/>
            <a:ext cx="13583460" cy="395849"/>
          </a:xfrm>
          <a:custGeom>
            <a:avLst/>
            <a:gdLst/>
            <a:ahLst/>
            <a:cxnLst/>
            <a:rect l="l" t="t" r="r" b="b"/>
            <a:pathLst>
              <a:path w="13583460" h="395849">
                <a:moveTo>
                  <a:pt x="0" y="0"/>
                </a:moveTo>
                <a:lnTo>
                  <a:pt x="13583460" y="0"/>
                </a:lnTo>
                <a:lnTo>
                  <a:pt x="13583460" y="395850"/>
                </a:lnTo>
                <a:lnTo>
                  <a:pt x="0" y="395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15527007" y="6427194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2135276" y="6427194"/>
            <a:ext cx="408727" cy="1859509"/>
          </a:xfrm>
          <a:custGeom>
            <a:avLst/>
            <a:gdLst/>
            <a:ahLst/>
            <a:cxnLst/>
            <a:rect l="l" t="t" r="r" b="b"/>
            <a:pathLst>
              <a:path w="408727" h="1859509">
                <a:moveTo>
                  <a:pt x="0" y="0"/>
                </a:moveTo>
                <a:lnTo>
                  <a:pt x="408728" y="0"/>
                </a:lnTo>
                <a:lnTo>
                  <a:pt x="408728" y="1859508"/>
                </a:lnTo>
                <a:lnTo>
                  <a:pt x="0" y="185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1" name="Group 11"/>
          <p:cNvGrpSpPr/>
          <p:nvPr/>
        </p:nvGrpSpPr>
        <p:grpSpPr>
          <a:xfrm>
            <a:off x="14367005" y="9602553"/>
            <a:ext cx="516484" cy="517246"/>
            <a:chOff x="0" y="0"/>
            <a:chExt cx="688645" cy="6896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8594" cy="689610"/>
            </a:xfrm>
            <a:custGeom>
              <a:avLst/>
              <a:gdLst/>
              <a:ahLst/>
              <a:cxnLst/>
              <a:rect l="l" t="t" r="r" b="b"/>
              <a:pathLst>
                <a:path w="688594" h="689610">
                  <a:moveTo>
                    <a:pt x="0" y="0"/>
                  </a:moveTo>
                  <a:lnTo>
                    <a:pt x="688594" y="0"/>
                  </a:lnTo>
                  <a:lnTo>
                    <a:pt x="688594" y="689610"/>
                  </a:lnTo>
                  <a:lnTo>
                    <a:pt x="0" y="689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3" r="-81" b="-7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3" name="Freeform 13"/>
          <p:cNvSpPr/>
          <p:nvPr/>
        </p:nvSpPr>
        <p:spPr>
          <a:xfrm>
            <a:off x="4087050" y="6500381"/>
            <a:ext cx="1887972" cy="462553"/>
          </a:xfrm>
          <a:custGeom>
            <a:avLst/>
            <a:gdLst/>
            <a:ahLst/>
            <a:cxnLst/>
            <a:rect l="l" t="t" r="r" b="b"/>
            <a:pathLst>
              <a:path w="1887972" h="462553">
                <a:moveTo>
                  <a:pt x="0" y="0"/>
                </a:moveTo>
                <a:lnTo>
                  <a:pt x="1887972" y="0"/>
                </a:lnTo>
                <a:lnTo>
                  <a:pt x="1887972" y="462553"/>
                </a:lnTo>
                <a:lnTo>
                  <a:pt x="0" y="462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TextBox 14"/>
          <p:cNvSpPr txBox="1"/>
          <p:nvPr/>
        </p:nvSpPr>
        <p:spPr>
          <a:xfrm>
            <a:off x="6208608" y="6490611"/>
            <a:ext cx="7482450" cy="37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dirty="0">
                <a:solidFill>
                  <a:srgbClr val="94E5F9"/>
                </a:solidFill>
                <a:latin typeface="Hagrid Text Light"/>
                <a:ea typeface="Hagrid Text Light"/>
                <a:cs typeface="Hagrid Text Light"/>
                <a:sym typeface="Hagrid Text Light"/>
                <a:hlinkClick r:id="rId10"/>
              </a:rPr>
              <a:t>www.linkedin.com/in/yusuf-ali-rencuzogullari</a:t>
            </a:r>
            <a:endParaRPr lang="en-US" sz="2400" dirty="0">
              <a:solidFill>
                <a:srgbClr val="94E5F9"/>
              </a:solidFill>
              <a:latin typeface="Hagrid Text Light"/>
              <a:ea typeface="Hagrid Text Light"/>
              <a:cs typeface="Hagrid Text Light"/>
              <a:sym typeface="Hagrid Text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839914" y="2657751"/>
            <a:ext cx="10608171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01"/>
              </a:lnSpc>
            </a:pPr>
            <a:r>
              <a:rPr lang="en-US" sz="11500" b="1" dirty="0" err="1">
                <a:solidFill>
                  <a:srgbClr val="94E5F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Teşekkürler</a:t>
            </a:r>
            <a:endParaRPr lang="en-US" sz="11500" b="1" dirty="0">
              <a:solidFill>
                <a:srgbClr val="94E5F9"/>
              </a:solidFill>
              <a:latin typeface="Hagrid Text Bold"/>
              <a:ea typeface="Hagrid Text Bold"/>
              <a:cs typeface="Hagrid Text Bold"/>
              <a:sym typeface="Hagrid Tex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71109" y="5014236"/>
            <a:ext cx="11052870" cy="86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000" dirty="0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Soru </a:t>
            </a:r>
            <a:r>
              <a:rPr lang="en-US" sz="6000" dirty="0" err="1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ve</a:t>
            </a:r>
            <a:r>
              <a:rPr lang="en-US" sz="6000" dirty="0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 </a:t>
            </a:r>
            <a:r>
              <a:rPr lang="en-US" sz="6000" dirty="0" err="1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görüşleriniz</a:t>
            </a:r>
            <a:r>
              <a:rPr lang="en-US" sz="6000" dirty="0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 </a:t>
            </a:r>
            <a:r>
              <a:rPr lang="en-US" sz="6000" dirty="0" err="1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için</a:t>
            </a:r>
            <a:r>
              <a:rPr lang="en-US" sz="6000" dirty="0">
                <a:solidFill>
                  <a:srgbClr val="94E5F9"/>
                </a:solidFill>
                <a:latin typeface="Hagrid Text"/>
                <a:ea typeface="Hagrid Text"/>
                <a:cs typeface="Hagrid Text"/>
                <a:sym typeface="Hagrid Text"/>
              </a:rPr>
              <a:t>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10341" y="9563052"/>
            <a:ext cx="7029821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94E5F9"/>
                </a:solidFill>
                <a:latin typeface="Hagrid Text Light"/>
                <a:ea typeface="Hagrid Text Light"/>
                <a:cs typeface="Hagrid Text Light"/>
                <a:sym typeface="Hagrid Text Light"/>
              </a:rPr>
              <a:t>Estü Yazılım Kulübü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1855</Words>
  <Application>Microsoft Office PowerPoint</Application>
  <PresentationFormat>Özel</PresentationFormat>
  <Paragraphs>317</Paragraphs>
  <Slides>26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6" baseType="lpstr">
      <vt:lpstr>Prompt</vt:lpstr>
      <vt:lpstr>Arial</vt:lpstr>
      <vt:lpstr>Hagrid Text</vt:lpstr>
      <vt:lpstr>Prompt Bold</vt:lpstr>
      <vt:lpstr>Hagrid Text Light</vt:lpstr>
      <vt:lpstr>Courier New Bold</vt:lpstr>
      <vt:lpstr>Courier New</vt:lpstr>
      <vt:lpstr>Hagrid Text Bold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Python101_Slides.pptx</dc:title>
  <dc:creator>YSF</dc:creator>
  <cp:lastModifiedBy>kullanıcı 1</cp:lastModifiedBy>
  <cp:revision>2</cp:revision>
  <dcterms:created xsi:type="dcterms:W3CDTF">2006-08-16T00:00:00Z</dcterms:created>
  <dcterms:modified xsi:type="dcterms:W3CDTF">2026-10-23T21:02:30Z</dcterms:modified>
  <dc:identifier>DAHYNsj9cRM</dc:identifier>
</cp:coreProperties>
</file>